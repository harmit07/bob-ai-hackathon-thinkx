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0" autoAdjust="0"/>
    <p:restoredTop sz="94610"/>
  </p:normalViewPr>
  <p:slideViewPr>
    <p:cSldViewPr snapToGrid="0" snapToObjects="1">
      <p:cViewPr>
        <p:scale>
          <a:sx n="96" d="100"/>
          <a:sy n="96" d="100"/>
        </p:scale>
        <p:origin x="82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0800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9525">
            <a:solidFill>
              <a:srgbClr val="2433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65960"/>
            <a:ext cx="12191695" cy="0"/>
          </a:xfrm>
          <a:prstGeom prst="line">
            <a:avLst/>
          </a:prstGeom>
          <a:noFill/>
          <a:ln w="9525">
            <a:solidFill>
              <a:srgbClr val="2433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926080"/>
            <a:ext cx="12191695" cy="0"/>
          </a:xfrm>
          <a:prstGeom prst="line">
            <a:avLst/>
          </a:prstGeom>
          <a:noFill/>
          <a:ln w="9525">
            <a:solidFill>
              <a:srgbClr val="2433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886200"/>
            <a:ext cx="12191695" cy="0"/>
          </a:xfrm>
          <a:prstGeom prst="line">
            <a:avLst/>
          </a:prstGeom>
          <a:noFill/>
          <a:ln w="9525">
            <a:solidFill>
              <a:srgbClr val="243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9525">
            <a:solidFill>
              <a:srgbClr val="2433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806440"/>
            <a:ext cx="12191695" cy="0"/>
          </a:xfrm>
          <a:prstGeom prst="line">
            <a:avLst/>
          </a:prstGeom>
          <a:noFill/>
          <a:ln w="9525">
            <a:solidFill>
              <a:srgbClr val="2433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1188720"/>
            <a:ext cx="164592" cy="164592"/>
          </a:xfrm>
          <a:prstGeom prst="ellipse">
            <a:avLst/>
          </a:prstGeom>
          <a:solidFill>
            <a:srgbClr val="00D9C0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0" y="1828800"/>
            <a:ext cx="109728" cy="109728"/>
          </a:xfrm>
          <a:prstGeom prst="ellipse">
            <a:avLst/>
          </a:prstGeom>
          <a:solidFill>
            <a:srgbClr val="00D9C0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247120" y="1371600"/>
            <a:ext cx="91440" cy="91440"/>
          </a:xfrm>
          <a:prstGeom prst="ellipse">
            <a:avLst/>
          </a:prstGeom>
          <a:solidFill>
            <a:srgbClr val="00D9C0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966960" y="3291840"/>
            <a:ext cx="91440" cy="91440"/>
          </a:xfrm>
          <a:prstGeom prst="ellipse">
            <a:avLst/>
          </a:prstGeom>
          <a:solidFill>
            <a:srgbClr val="00D9C0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0" y="3931920"/>
            <a:ext cx="164592" cy="164592"/>
          </a:xfrm>
          <a:prstGeom prst="ellipse">
            <a:avLst/>
          </a:prstGeom>
          <a:solidFill>
            <a:srgbClr val="00D9C0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332720" y="4846320"/>
            <a:ext cx="109728" cy="109728"/>
          </a:xfrm>
          <a:prstGeom prst="ellipse">
            <a:avLst/>
          </a:prstGeom>
          <a:solidFill>
            <a:srgbClr val="00D9C0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0" y="5486400"/>
            <a:ext cx="91440" cy="91440"/>
          </a:xfrm>
          <a:prstGeom prst="ellipse">
            <a:avLst/>
          </a:prstGeom>
          <a:solidFill>
            <a:srgbClr val="00D9C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509760" y="5212080"/>
            <a:ext cx="73152" cy="73152"/>
          </a:xfrm>
          <a:prstGeom prst="ellipse">
            <a:avLst/>
          </a:prstGeom>
          <a:solidFill>
            <a:srgbClr val="00D9C0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521440" y="2651760"/>
            <a:ext cx="73152" cy="73152"/>
          </a:xfrm>
          <a:prstGeom prst="ellipse">
            <a:avLst/>
          </a:prstGeom>
          <a:solidFill>
            <a:srgbClr val="00D9C0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548640"/>
            <a:ext cx="2834640" cy="438912"/>
          </a:xfrm>
          <a:prstGeom prst="roundRect">
            <a:avLst>
              <a:gd name="adj" fmla="val 50000"/>
            </a:avLst>
          </a:prstGeom>
          <a:solidFill>
            <a:srgbClr val="16223B"/>
          </a:solidFill>
          <a:ln w="12700">
            <a:solidFill>
              <a:srgbClr val="00D9C0"/>
            </a:solidFill>
            <a:prstDash val="solid"/>
          </a:ln>
        </p:spPr>
      </p:sp>
      <p:pic>
        <p:nvPicPr>
          <p:cNvPr id="18" name="Image 0" descr="/home/claude/gridadvisor/icons/leaf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58368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05840" y="5486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TRACK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1417320"/>
            <a:ext cx="777240" cy="77724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21" name="Image 1" descr="/home/claude/gridadvisor/icons/bol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" y="1518361"/>
            <a:ext cx="575158" cy="57515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0352" y="22860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Advisor</a:t>
            </a:r>
            <a:endParaRPr lang="en-US" sz="5800" dirty="0"/>
          </a:p>
        </p:txBody>
      </p:sp>
      <p:sp>
        <p:nvSpPr>
          <p:cNvPr id="23" name="Text 19"/>
          <p:cNvSpPr/>
          <p:nvPr/>
        </p:nvSpPr>
        <p:spPr>
          <a:xfrm>
            <a:off x="548640" y="33375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problem. Explain the cause. Optimize the response.</a:t>
            </a: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548640" y="4160520"/>
            <a:ext cx="5943600" cy="0"/>
          </a:xfrm>
          <a:prstGeom prst="line">
            <a:avLst/>
          </a:prstGeom>
          <a:noFill/>
          <a:ln w="12700">
            <a:solidFill>
              <a:srgbClr val="24335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48640" y="4343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ThinkX</a:t>
            </a:r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548640" y="48280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AI advisor for renewable-heavy grids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943600"/>
            <a:ext cx="1046988" cy="384048"/>
          </a:xfrm>
          <a:prstGeom prst="roundRect">
            <a:avLst>
              <a:gd name="adj" fmla="val 50000"/>
            </a:avLst>
          </a:prstGeom>
          <a:solidFill>
            <a:srgbClr val="1C2C4A"/>
          </a:solidFill>
          <a:ln w="9525">
            <a:solidFill>
              <a:srgbClr val="24335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48640" y="5943600"/>
            <a:ext cx="1046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1760220" y="5943600"/>
            <a:ext cx="1046988" cy="384048"/>
          </a:xfrm>
          <a:prstGeom prst="roundRect">
            <a:avLst>
              <a:gd name="adj" fmla="val 50000"/>
            </a:avLst>
          </a:prstGeom>
          <a:solidFill>
            <a:srgbClr val="1C2C4A"/>
          </a:solidFill>
          <a:ln w="9525">
            <a:solidFill>
              <a:srgbClr val="24335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760220" y="5943600"/>
            <a:ext cx="1046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2971800" y="5943600"/>
            <a:ext cx="1046988" cy="384048"/>
          </a:xfrm>
          <a:prstGeom prst="roundRect">
            <a:avLst>
              <a:gd name="adj" fmla="val 50000"/>
            </a:avLst>
          </a:prstGeom>
          <a:solidFill>
            <a:srgbClr val="1C2C4A"/>
          </a:solidFill>
          <a:ln w="9525">
            <a:solidFill>
              <a:srgbClr val="24335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971800" y="5943600"/>
            <a:ext cx="1046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4183380" y="5943600"/>
            <a:ext cx="1362456" cy="384048"/>
          </a:xfrm>
          <a:prstGeom prst="roundRect">
            <a:avLst>
              <a:gd name="adj" fmla="val 50000"/>
            </a:avLst>
          </a:prstGeom>
          <a:solidFill>
            <a:srgbClr val="1C2C4A"/>
          </a:solidFill>
          <a:ln w="9525">
            <a:solidFill>
              <a:srgbClr val="24335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183380" y="5943600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710428" y="5943600"/>
            <a:ext cx="1046988" cy="384048"/>
          </a:xfrm>
          <a:prstGeom prst="roundRect">
            <a:avLst>
              <a:gd name="adj" fmla="val 50000"/>
            </a:avLst>
          </a:prstGeom>
          <a:solidFill>
            <a:srgbClr val="1C2C4A"/>
          </a:solidFill>
          <a:ln w="9525">
            <a:solidFill>
              <a:srgbClr val="24335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710428" y="5943600"/>
            <a:ext cx="1046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ADVISOR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ThinkX  •  IBM Bob AI Hackathon  •  1/13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 can't keep up with renewables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85816" cy="16916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00300"/>
            <a:ext cx="822960" cy="822960"/>
          </a:xfrm>
          <a:prstGeom prst="ellipse">
            <a:avLst/>
          </a:prstGeom>
          <a:solidFill>
            <a:srgbClr val="1F5AA6"/>
          </a:solidFill>
          <a:ln/>
        </p:spPr>
      </p:sp>
      <p:pic>
        <p:nvPicPr>
          <p:cNvPr id="6" name="Image 0" descr="/home/claude/gridadvisor/icons/sol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65" y="250728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65960"/>
            <a:ext cx="37856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renewable variability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254496" y="1965960"/>
            <a:ext cx="5385816" cy="16916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74536" y="2400300"/>
            <a:ext cx="822960" cy="822960"/>
          </a:xfrm>
          <a:prstGeom prst="ellipse">
            <a:avLst/>
          </a:prstGeom>
          <a:solidFill>
            <a:srgbClr val="1F5AA6"/>
          </a:solidFill>
          <a:ln/>
        </p:spPr>
      </p:sp>
      <p:pic>
        <p:nvPicPr>
          <p:cNvPr id="10" name="Image 1" descr="/home/claude/gridadvisor/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521" y="2507285"/>
            <a:ext cx="608990" cy="6089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6096" y="1965960"/>
            <a:ext cx="37856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demand spikes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548640" y="3977640"/>
            <a:ext cx="5385816" cy="16916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8680" y="4411980"/>
            <a:ext cx="822960" cy="822960"/>
          </a:xfrm>
          <a:prstGeom prst="ellipse">
            <a:avLst/>
          </a:prstGeom>
          <a:solidFill>
            <a:srgbClr val="1F5AA6"/>
          </a:solidFill>
          <a:ln/>
        </p:spPr>
      </p:sp>
      <p:pic>
        <p:nvPicPr>
          <p:cNvPr id="14" name="Image 2" descr="/home/claude/gridadvisor/icons/networ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665" y="4518965"/>
            <a:ext cx="608990" cy="6089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20240" y="3977640"/>
            <a:ext cx="37856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constraints</a:t>
            </a:r>
            <a:endParaRPr lang="en-US" sz="2400" dirty="0"/>
          </a:p>
        </p:txBody>
      </p:sp>
      <p:sp>
        <p:nvSpPr>
          <p:cNvPr id="16" name="Shape 11"/>
          <p:cNvSpPr/>
          <p:nvPr/>
        </p:nvSpPr>
        <p:spPr>
          <a:xfrm>
            <a:off x="6254496" y="3977640"/>
            <a:ext cx="5385816" cy="1691640"/>
          </a:xfrm>
          <a:prstGeom prst="roundRect">
            <a:avLst>
              <a:gd name="adj" fmla="val 5405"/>
            </a:avLst>
          </a:prstGeom>
          <a:solidFill>
            <a:srgbClr val="F4F6FA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74536" y="4411980"/>
            <a:ext cx="822960" cy="822960"/>
          </a:xfrm>
          <a:prstGeom prst="ellipse">
            <a:avLst/>
          </a:prstGeom>
          <a:solidFill>
            <a:srgbClr val="1F5AA6"/>
          </a:solidFill>
          <a:ln/>
        </p:spPr>
      </p:sp>
      <p:pic>
        <p:nvPicPr>
          <p:cNvPr id="18" name="Image 3" descr="/home/claude/gridadvisor/icons/war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1521" y="4518965"/>
            <a:ext cx="608990" cy="60899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26096" y="3977640"/>
            <a:ext cx="37856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curtailment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ADVISOR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ThinkX  •  IBM Bob AI Hackathon  •  2/13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685800"/>
            <a:ext cx="914400" cy="91440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3" name="Image 0" descr="/home/claude/gridadvisor/icons/war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520" y="80467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7830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2148840"/>
            <a:ext cx="121916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5000" dirty="0"/>
          </a:p>
        </p:txBody>
      </p:sp>
      <p:sp>
        <p:nvSpPr>
          <p:cNvPr id="6" name="Text 3"/>
          <p:cNvSpPr/>
          <p:nvPr/>
        </p:nvSpPr>
        <p:spPr>
          <a:xfrm>
            <a:off x="1371600" y="416052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renewable energy is curtailed annually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737360" y="4800600"/>
            <a:ext cx="8714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operators lack the real-time intelligence to act before clean energy is wasted.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ADVISOR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ThinkX  •  IBM Bob AI Hackathon  •  3/13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advisor. Five capabilities. One API call.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46608" y="19659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16223B"/>
          </a:solidFill>
          <a:ln w="12700">
            <a:solidFill>
              <a:srgbClr val="2433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0928" y="2468880"/>
            <a:ext cx="731520" cy="73152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6" name="Image 0" descr="/home/claude/gridadvisor/icons/wifi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25" y="256397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35328" y="196596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404208" y="19659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16223B"/>
          </a:solidFill>
          <a:ln w="12700">
            <a:solidFill>
              <a:srgbClr val="2433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78528" y="2468880"/>
            <a:ext cx="731520" cy="73152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10" name="Image 1" descr="/home/claude/gridadvisor/icons/char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625" y="2563978"/>
            <a:ext cx="541325" cy="5413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92928" y="196596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Forecasting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061808" y="19659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16223B"/>
          </a:solidFill>
          <a:ln w="12700">
            <a:solidFill>
              <a:srgbClr val="24335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36128" y="2468880"/>
            <a:ext cx="731520" cy="73152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14" name="Image 2" descr="/home/claude/gridadvisor/icons/warn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225" y="2563978"/>
            <a:ext cx="541325" cy="5413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50528" y="196596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2575408" y="40233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16223B"/>
          </a:solidFill>
          <a:ln w="12700">
            <a:solidFill>
              <a:srgbClr val="24335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849728" y="4526280"/>
            <a:ext cx="731520" cy="73152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18" name="Image 3" descr="/home/claude/gridadvisor/icons/slider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4825" y="4621378"/>
            <a:ext cx="541325" cy="5413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764128" y="402336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Optimization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6233008" y="40233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16223B"/>
          </a:solidFill>
          <a:ln w="12700">
            <a:solidFill>
              <a:srgbClr val="24335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507328" y="4526280"/>
            <a:ext cx="731520" cy="73152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22" name="Image 4" descr="/home/claude/gridadvisor/icons/robot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2425" y="4621378"/>
            <a:ext cx="541325" cy="5413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21728" y="402336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RCA Advisor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ADVISOR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ThinkX  •  IBM Bob AI Hackathon  •  4/13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→ Backend → AI Services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72688" y="1691640"/>
            <a:ext cx="4846320" cy="777240"/>
          </a:xfrm>
          <a:prstGeom prst="roundRect">
            <a:avLst>
              <a:gd name="adj" fmla="val 10588"/>
            </a:avLst>
          </a:prstGeom>
          <a:solidFill>
            <a:srgbClr val="00D9C0"/>
          </a:solidFill>
          <a:ln/>
        </p:spPr>
      </p:sp>
      <p:pic>
        <p:nvPicPr>
          <p:cNvPr id="5" name="Image 0" descr="/home/claude/gridadvisor/icons/deskto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008" y="1929384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04208" y="16916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095848" y="2468880"/>
            <a:ext cx="0" cy="320040"/>
          </a:xfrm>
          <a:prstGeom prst="line">
            <a:avLst/>
          </a:prstGeom>
          <a:noFill/>
          <a:ln w="19050">
            <a:solidFill>
              <a:srgbClr val="8FA3B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01488" y="2523744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10192E"/>
          </a:solidFill>
          <a:ln w="12700">
            <a:solidFill>
              <a:srgbClr val="2433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01488" y="25237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92728" y="2852928"/>
            <a:ext cx="4206240" cy="731520"/>
          </a:xfrm>
          <a:prstGeom prst="roundRect">
            <a:avLst>
              <a:gd name="adj" fmla="val 11250"/>
            </a:avLst>
          </a:prstGeom>
          <a:solidFill>
            <a:srgbClr val="1C2C4A"/>
          </a:solidFill>
          <a:ln w="15875">
            <a:solidFill>
              <a:srgbClr val="00D9C0"/>
            </a:solidFill>
            <a:prstDash val="solid"/>
          </a:ln>
        </p:spPr>
      </p:sp>
      <p:pic>
        <p:nvPicPr>
          <p:cNvPr id="11" name="Image 1" descr="/home/claude/gridadvisor/icons/server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472" y="307238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51096" y="285292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4518508" y="3584448"/>
            <a:ext cx="0" cy="502920"/>
          </a:xfrm>
          <a:prstGeom prst="line">
            <a:avLst/>
          </a:prstGeom>
          <a:noFill/>
          <a:ln w="15875">
            <a:solidFill>
              <a:srgbClr val="24335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4087368"/>
            <a:ext cx="2608326" cy="868680"/>
          </a:xfrm>
          <a:prstGeom prst="roundRect">
            <a:avLst>
              <a:gd name="adj" fmla="val 8421"/>
            </a:avLst>
          </a:prstGeom>
          <a:solidFill>
            <a:srgbClr val="16223B"/>
          </a:solidFill>
          <a:ln w="12700">
            <a:solidFill>
              <a:srgbClr val="24335A"/>
            </a:solidFill>
            <a:prstDash val="solid"/>
          </a:ln>
        </p:spPr>
      </p:sp>
      <p:pic>
        <p:nvPicPr>
          <p:cNvPr id="15" name="Image 2" descr="/home/claude/gridadvisor/icons/chart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375404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15568" y="4087368"/>
            <a:ext cx="19225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570068" y="3584448"/>
            <a:ext cx="0" cy="502920"/>
          </a:xfrm>
          <a:prstGeom prst="line">
            <a:avLst/>
          </a:prstGeom>
          <a:noFill/>
          <a:ln w="15875">
            <a:solidFill>
              <a:srgbClr val="24335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376422" y="4087368"/>
            <a:ext cx="2608326" cy="868680"/>
          </a:xfrm>
          <a:prstGeom prst="roundRect">
            <a:avLst>
              <a:gd name="adj" fmla="val 8421"/>
            </a:avLst>
          </a:prstGeom>
          <a:solidFill>
            <a:srgbClr val="16223B"/>
          </a:solidFill>
          <a:ln w="12700">
            <a:solidFill>
              <a:srgbClr val="24335A"/>
            </a:solidFill>
            <a:prstDash val="solid"/>
          </a:ln>
        </p:spPr>
      </p:sp>
      <p:pic>
        <p:nvPicPr>
          <p:cNvPr id="19" name="Image 3" descr="/home/claude/gridadvisor/icons/sliders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9302" y="4375404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43350" y="4087368"/>
            <a:ext cx="19225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621628" y="3584448"/>
            <a:ext cx="886739" cy="502920"/>
          </a:xfrm>
          <a:prstGeom prst="line">
            <a:avLst/>
          </a:prstGeom>
          <a:noFill/>
          <a:ln w="15875">
            <a:solidFill>
              <a:srgbClr val="24335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204204" y="4087368"/>
            <a:ext cx="2608326" cy="868680"/>
          </a:xfrm>
          <a:prstGeom prst="roundRect">
            <a:avLst>
              <a:gd name="adj" fmla="val 8421"/>
            </a:avLst>
          </a:prstGeom>
          <a:solidFill>
            <a:srgbClr val="16223B"/>
          </a:solidFill>
          <a:ln w="12700">
            <a:solidFill>
              <a:srgbClr val="24335A"/>
            </a:solidFill>
            <a:prstDash val="solid"/>
          </a:ln>
        </p:spPr>
      </p:sp>
      <p:pic>
        <p:nvPicPr>
          <p:cNvPr id="23" name="Image 4" descr="/home/claude/gridadvisor/icons/cogs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7084" y="4375404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71132" y="4087368"/>
            <a:ext cx="19225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7673188" y="3584448"/>
            <a:ext cx="2662961" cy="502920"/>
          </a:xfrm>
          <a:prstGeom prst="line">
            <a:avLst/>
          </a:prstGeom>
          <a:noFill/>
          <a:ln w="15875">
            <a:solidFill>
              <a:srgbClr val="24335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9031986" y="4087368"/>
            <a:ext cx="2608326" cy="868680"/>
          </a:xfrm>
          <a:prstGeom prst="roundRect">
            <a:avLst>
              <a:gd name="adj" fmla="val 8421"/>
            </a:avLst>
          </a:prstGeom>
          <a:solidFill>
            <a:srgbClr val="16223B"/>
          </a:solidFill>
          <a:ln w="12700">
            <a:solidFill>
              <a:srgbClr val="24335A"/>
            </a:solidFill>
            <a:prstDash val="solid"/>
          </a:ln>
        </p:spPr>
      </p:sp>
      <p:pic>
        <p:nvPicPr>
          <p:cNvPr id="27" name="Image 5" descr="/home/claude/gridadvisor/icons/database_sla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4866" y="4375404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598914" y="4087368"/>
            <a:ext cx="192252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9" name="Shape 21"/>
          <p:cNvSpPr/>
          <p:nvPr/>
        </p:nvSpPr>
        <p:spPr>
          <a:xfrm>
            <a:off x="7508367" y="4956048"/>
            <a:ext cx="0" cy="365760"/>
          </a:xfrm>
          <a:prstGeom prst="line">
            <a:avLst/>
          </a:prstGeom>
          <a:noFill/>
          <a:ln w="19050">
            <a:solidFill>
              <a:srgbClr val="6C3FC9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5588127" y="5321808"/>
            <a:ext cx="3840480" cy="640080"/>
          </a:xfrm>
          <a:prstGeom prst="roundRect">
            <a:avLst>
              <a:gd name="adj" fmla="val 50000"/>
            </a:avLst>
          </a:prstGeom>
          <a:solidFill>
            <a:srgbClr val="6C3FC9"/>
          </a:solidFill>
          <a:ln/>
        </p:spPr>
      </p:sp>
      <p:pic>
        <p:nvPicPr>
          <p:cNvPr id="31" name="Image 6" descr="/home/claude/gridadvisor/icons/brain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89295" y="5486400"/>
            <a:ext cx="310896" cy="31089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228207" y="53218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 narrative</a:t>
            </a:r>
            <a:endParaRPr lang="en-US" sz="1500" dirty="0"/>
          </a:p>
        </p:txBody>
      </p:sp>
      <p:sp>
        <p:nvSpPr>
          <p:cNvPr id="33" name="Text 24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ADVISOR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ThinkX  •  IBM Bob AI Hackathon  •  5/13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request returns the full picture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01368"/>
            <a:ext cx="438912" cy="438912"/>
          </a:xfrm>
          <a:prstGeom prst="ellipse">
            <a:avLst/>
          </a:prstGeom>
          <a:solidFill>
            <a:srgbClr val="1F5AA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1801368"/>
            <a:ext cx="438912" cy="438912"/>
          </a:xfrm>
          <a:prstGeom prst="ellipse">
            <a:avLst/>
          </a:prstGeom>
          <a:solidFill>
            <a:srgbClr val="E3E8F2"/>
          </a:solidFill>
          <a:ln/>
        </p:spPr>
      </p:sp>
      <p:pic>
        <p:nvPicPr>
          <p:cNvPr id="8" name="Image 0" descr="/home/claude/gridadvisor/icons/wifi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659" y="1858427"/>
            <a:ext cx="324795" cy="3247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16916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Snapshot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92240" y="1691640"/>
            <a:ext cx="4965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telemetry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2478024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587752"/>
            <a:ext cx="438912" cy="438912"/>
          </a:xfrm>
          <a:prstGeom prst="ellipse">
            <a:avLst/>
          </a:prstGeom>
          <a:solidFill>
            <a:srgbClr val="1F5AA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371600" y="2587752"/>
            <a:ext cx="438912" cy="438912"/>
          </a:xfrm>
          <a:prstGeom prst="ellipse">
            <a:avLst/>
          </a:prstGeom>
          <a:solidFill>
            <a:srgbClr val="E3E8F2"/>
          </a:solidFill>
          <a:ln/>
        </p:spPr>
      </p:sp>
      <p:pic>
        <p:nvPicPr>
          <p:cNvPr id="15" name="Image 1" descr="/home/claude/gridadvisor/icons/char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659" y="2644811"/>
            <a:ext cx="324795" cy="32479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57400" y="247802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Forecast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492240" y="2478024"/>
            <a:ext cx="4965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prediction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48640" y="3264408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374136"/>
            <a:ext cx="438912" cy="438912"/>
          </a:xfrm>
          <a:prstGeom prst="ellipse">
            <a:avLst/>
          </a:prstGeom>
          <a:solidFill>
            <a:srgbClr val="1F5AA6"/>
          </a:solidFill>
          <a:ln/>
        </p:spPr>
      </p:sp>
      <p:sp>
        <p:nvSpPr>
          <p:cNvPr id="20" name="Text 16"/>
          <p:cNvSpPr/>
          <p:nvPr/>
        </p:nvSpPr>
        <p:spPr>
          <a:xfrm>
            <a:off x="731520" y="33741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1371600" y="3374136"/>
            <a:ext cx="438912" cy="438912"/>
          </a:xfrm>
          <a:prstGeom prst="ellipse">
            <a:avLst/>
          </a:prstGeom>
          <a:solidFill>
            <a:srgbClr val="E3E8F2"/>
          </a:solidFill>
          <a:ln/>
        </p:spPr>
      </p:sp>
      <p:pic>
        <p:nvPicPr>
          <p:cNvPr id="22" name="Image 2" descr="/home/claude/gridadvisor/icons/warn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659" y="3431195"/>
            <a:ext cx="324795" cy="32479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057400" y="326440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6492240" y="3264408"/>
            <a:ext cx="4965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→ critical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548640" y="4050792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1520" y="4160520"/>
            <a:ext cx="438912" cy="438912"/>
          </a:xfrm>
          <a:prstGeom prst="ellipse">
            <a:avLst/>
          </a:prstGeom>
          <a:solidFill>
            <a:srgbClr val="1F5AA6"/>
          </a:solidFill>
          <a:ln/>
        </p:spPr>
      </p:sp>
      <p:sp>
        <p:nvSpPr>
          <p:cNvPr id="27" name="Text 22"/>
          <p:cNvSpPr/>
          <p:nvPr/>
        </p:nvSpPr>
        <p:spPr>
          <a:xfrm>
            <a:off x="731520" y="4160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1371600" y="4160520"/>
            <a:ext cx="438912" cy="438912"/>
          </a:xfrm>
          <a:prstGeom prst="ellipse">
            <a:avLst/>
          </a:prstGeom>
          <a:solidFill>
            <a:srgbClr val="E3E8F2"/>
          </a:solidFill>
          <a:ln/>
        </p:spPr>
      </p:sp>
      <p:pic>
        <p:nvPicPr>
          <p:cNvPr id="29" name="Image 3" descr="/home/claude/gridadvisor/icons/slider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659" y="4217579"/>
            <a:ext cx="324795" cy="32479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2057400" y="405079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Optimization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6492240" y="4050792"/>
            <a:ext cx="4965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dispatch plan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548640" y="4837176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6C3FC9"/>
          </a:solidFill>
          <a:ln w="12700">
            <a:solidFill>
              <a:srgbClr val="6C3FC9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31520" y="4946904"/>
            <a:ext cx="438912" cy="438912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4" name="Text 28"/>
          <p:cNvSpPr/>
          <p:nvPr/>
        </p:nvSpPr>
        <p:spPr>
          <a:xfrm>
            <a:off x="731520" y="4946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1371600" y="4946904"/>
            <a:ext cx="438912" cy="438912"/>
          </a:xfrm>
          <a:prstGeom prst="ellipse">
            <a:avLst/>
          </a:prstGeom>
          <a:solidFill>
            <a:srgbClr val="251952"/>
          </a:solidFill>
          <a:ln/>
        </p:spPr>
      </p:sp>
      <p:pic>
        <p:nvPicPr>
          <p:cNvPr id="36" name="Image 4" descr="/home/claude/gridadvisor/icons/robot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8659" y="5003963"/>
            <a:ext cx="324795" cy="324795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2057400" y="483717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Narrative</a:t>
            </a:r>
            <a:endParaRPr lang="en-US" sz="2200" dirty="0"/>
          </a:p>
        </p:txBody>
      </p:sp>
      <p:sp>
        <p:nvSpPr>
          <p:cNvPr id="38" name="Text 31"/>
          <p:cNvSpPr/>
          <p:nvPr/>
        </p:nvSpPr>
        <p:spPr>
          <a:xfrm>
            <a:off x="6492240" y="4837176"/>
            <a:ext cx="4965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D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 Granite</a:t>
            </a:r>
            <a:endParaRPr lang="en-US" sz="2000" dirty="0"/>
          </a:p>
        </p:txBody>
      </p:sp>
      <p:sp>
        <p:nvSpPr>
          <p:cNvPr id="39" name="Text 32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ADVISOR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ThinkX  •  IBM Bob AI Hackathon  •  6/13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advisor tells an operator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6223B"/>
          </a:solidFill>
          <a:ln w="12700">
            <a:solidFill>
              <a:srgbClr val="2433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1C2C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749040" y="1874520"/>
            <a:ext cx="7616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curtailment risk on the West Solar Farm.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6223B"/>
          </a:solidFill>
          <a:ln w="12700">
            <a:solidFill>
              <a:srgbClr val="2433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33756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1C2C4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3756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49040" y="3337560"/>
            <a:ext cx="7616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Forecasted solar output exceeds transmission headroom, 12:00–14:00.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6223B"/>
          </a:solidFill>
          <a:ln w="12700">
            <a:solidFill>
              <a:srgbClr val="2433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80060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1C2C4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006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Best Action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49040" y="4800600"/>
            <a:ext cx="7616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Pre-charge storage to 70% and shift 40 MW of flexible load.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sample responses are documented in the project repository.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ADVISOR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ThinkX  •  IBM Bob AI Hackathon  •  7/13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TECHNOLOGY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Bob — our AI development partner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05840" cy="1005840"/>
          </a:xfrm>
          <a:prstGeom prst="ellipse">
            <a:avLst/>
          </a:prstGeom>
          <a:solidFill>
            <a:srgbClr val="1F5AA6"/>
          </a:solidFill>
          <a:ln/>
        </p:spPr>
      </p:sp>
      <p:pic>
        <p:nvPicPr>
          <p:cNvPr id="5" name="Image 0" descr="/home/claude/gridadvisor/icons/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959559"/>
            <a:ext cx="744322" cy="74432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369564"/>
            <a:ext cx="164592" cy="164592"/>
          </a:xfrm>
          <a:prstGeom prst="ellipse">
            <a:avLst/>
          </a:prstGeom>
          <a:solidFill>
            <a:srgbClr val="1F5AA6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3063240"/>
            <a:ext cx="50886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231636" y="3369564"/>
            <a:ext cx="164592" cy="164592"/>
          </a:xfrm>
          <a:prstGeom prst="ellipse">
            <a:avLst/>
          </a:prstGeom>
          <a:solidFill>
            <a:srgbClr val="1F5AA6"/>
          </a:solidFill>
          <a:ln/>
        </p:spPr>
      </p:sp>
      <p:sp>
        <p:nvSpPr>
          <p:cNvPr id="9" name="Text 6"/>
          <p:cNvSpPr/>
          <p:nvPr/>
        </p:nvSpPr>
        <p:spPr>
          <a:xfrm>
            <a:off x="6551676" y="3063240"/>
            <a:ext cx="50886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scaffolding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4329684"/>
            <a:ext cx="164592" cy="164592"/>
          </a:xfrm>
          <a:prstGeom prst="ellipse">
            <a:avLst/>
          </a:prstGeom>
          <a:solidFill>
            <a:srgbClr val="1F5AA6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4023360"/>
            <a:ext cx="50886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generation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6231636" y="4329684"/>
            <a:ext cx="164592" cy="164592"/>
          </a:xfrm>
          <a:prstGeom prst="ellipse">
            <a:avLst/>
          </a:prstGeom>
          <a:solidFill>
            <a:srgbClr val="1F5AA6"/>
          </a:solidFill>
          <a:ln/>
        </p:spPr>
      </p:sp>
      <p:sp>
        <p:nvSpPr>
          <p:cNvPr id="13" name="Text 10"/>
          <p:cNvSpPr/>
          <p:nvPr/>
        </p:nvSpPr>
        <p:spPr>
          <a:xfrm>
            <a:off x="6551676" y="4023360"/>
            <a:ext cx="50886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stubs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4864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across every phase of development — including this presentation.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ADVISOR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ThinkX  •  IBM Bob AI Hackathon  •  8/13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TECHNOLOGY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watsonx.ai — the reasoning layer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05840" cy="1005840"/>
          </a:xfrm>
          <a:prstGeom prst="ellipse">
            <a:avLst/>
          </a:prstGeom>
          <a:solidFill>
            <a:srgbClr val="6C3FC9"/>
          </a:solidFill>
          <a:ln/>
        </p:spPr>
      </p:sp>
      <p:pic>
        <p:nvPicPr>
          <p:cNvPr id="5" name="Image 0" descr="/home/claude/gridadvisor/icons/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959559"/>
            <a:ext cx="744322" cy="744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0632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status: complete &amp; ready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35661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IBM Granite 13B Instruct v2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operator's shift-start executive brief: situation, root cause, next best action.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implementation is documented in the project repository.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ADVISOR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ThinkX  •  IBM Bob AI Hackathon  •  9/13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Fast, forward-looking, production-ready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0B122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3520440" cy="64008"/>
          </a:xfrm>
          <a:prstGeom prst="roundRect">
            <a:avLst/>
          </a:prstGeom>
          <a:solidFill>
            <a:srgbClr val="F5B94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&lt;200ms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3886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advisory cycle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0B1220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2011680"/>
            <a:ext cx="3520440" cy="64008"/>
          </a:xfrm>
          <a:prstGeom prst="roundRect">
            <a:avLst/>
          </a:prstGeom>
          <a:solidFill>
            <a:srgbClr val="00D9C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468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24h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572000" y="3886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0B1220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2011680"/>
            <a:ext cx="3520440" cy="64008"/>
          </a:xfrm>
          <a:prstGeom prst="roundRect">
            <a:avLst/>
          </a:prstGeom>
          <a:solidFill>
            <a:srgbClr val="00D9C0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468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8366760" y="3886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categories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ADVISOR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ThinkX  •  IBM Bob AI Hackathon  •  10/13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matters, in practice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85816" cy="1691640"/>
          </a:xfrm>
          <a:prstGeom prst="roundRect">
            <a:avLst>
              <a:gd name="adj" fmla="val 5405"/>
            </a:avLst>
          </a:prstGeom>
          <a:solidFill>
            <a:srgbClr val="16223B"/>
          </a:solidFill>
          <a:ln w="12700">
            <a:solidFill>
              <a:srgbClr val="2433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00300"/>
            <a:ext cx="822960" cy="82296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6" name="Image 0" descr="/home/claude/gridadvisor/icons/leaf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65" y="250728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65960"/>
            <a:ext cx="37856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clean energy wasted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254496" y="1965960"/>
            <a:ext cx="5385816" cy="1691640"/>
          </a:xfrm>
          <a:prstGeom prst="roundRect">
            <a:avLst>
              <a:gd name="adj" fmla="val 5405"/>
            </a:avLst>
          </a:prstGeom>
          <a:solidFill>
            <a:srgbClr val="16223B"/>
          </a:solidFill>
          <a:ln w="12700">
            <a:solidFill>
              <a:srgbClr val="2433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74536" y="2400300"/>
            <a:ext cx="822960" cy="82296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10" name="Image 1" descr="/home/claude/gridadvisor/icons/shiel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521" y="2507285"/>
            <a:ext cx="608990" cy="6089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6096" y="1965960"/>
            <a:ext cx="37856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stable grids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548640" y="3977640"/>
            <a:ext cx="5385816" cy="1691640"/>
          </a:xfrm>
          <a:prstGeom prst="roundRect">
            <a:avLst>
              <a:gd name="adj" fmla="val 5405"/>
            </a:avLst>
          </a:prstGeom>
          <a:solidFill>
            <a:srgbClr val="16223B"/>
          </a:solidFill>
          <a:ln w="12700">
            <a:solidFill>
              <a:srgbClr val="24335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8680" y="4411980"/>
            <a:ext cx="822960" cy="82296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14" name="Image 2" descr="/home/claude/gridadvisor/icons/cloc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665" y="4518965"/>
            <a:ext cx="608990" cy="6089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20240" y="3977640"/>
            <a:ext cx="37856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operator decisions</a:t>
            </a:r>
            <a:endParaRPr lang="en-US" sz="2400" dirty="0"/>
          </a:p>
        </p:txBody>
      </p:sp>
      <p:sp>
        <p:nvSpPr>
          <p:cNvPr id="16" name="Shape 11"/>
          <p:cNvSpPr/>
          <p:nvPr/>
        </p:nvSpPr>
        <p:spPr>
          <a:xfrm>
            <a:off x="6254496" y="3977640"/>
            <a:ext cx="5385816" cy="1691640"/>
          </a:xfrm>
          <a:prstGeom prst="roundRect">
            <a:avLst>
              <a:gd name="adj" fmla="val 5405"/>
            </a:avLst>
          </a:prstGeom>
          <a:solidFill>
            <a:srgbClr val="16223B"/>
          </a:solidFill>
          <a:ln w="12700">
            <a:solidFill>
              <a:srgbClr val="24335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74536" y="4411980"/>
            <a:ext cx="822960" cy="82296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18" name="Image 3" descr="/home/claude/gridadvisor/icons/glob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1521" y="4518965"/>
            <a:ext cx="608990" cy="60899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26096" y="3977640"/>
            <a:ext cx="37856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real infrastructure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ADVISOR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ThinkX  •  IBM Bob AI Hackathon  •  11/13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1463040"/>
            <a:ext cx="914400" cy="914400"/>
          </a:xfrm>
          <a:prstGeom prst="ellipse">
            <a:avLst/>
          </a:prstGeom>
          <a:solidFill>
            <a:srgbClr val="F5B942"/>
          </a:solidFill>
          <a:ln/>
        </p:spPr>
      </p:sp>
      <p:pic>
        <p:nvPicPr>
          <p:cNvPr id="3" name="Image 0" descr="/home/claude/gridadvisor/icons/bol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520" y="158191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0"/>
            <a:ext cx="10360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3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“Predict the problem.</a:t>
            </a:r>
            <a:endParaRPr lang="en-US" sz="3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3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the cause.</a:t>
            </a:r>
            <a:endParaRPr lang="en-US" sz="3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3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the response.”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Advisor  ·  Team ThinkX  ·  IBM Bob AI Hackathon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ADVISOR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ThinkX  •  IBM Bob AI Hackathon  •  13/13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</Words>
  <Application>Microsoft Office PowerPoint</Application>
  <PresentationFormat>Widescreen</PresentationFormat>
  <Paragraphs>130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PRINCE GHEVARIYA</cp:lastModifiedBy>
  <cp:revision>2</cp:revision>
  <dcterms:created xsi:type="dcterms:W3CDTF">2026-09-15T04:32:35Z</dcterms:created>
  <dcterms:modified xsi:type="dcterms:W3CDTF">2026-09-15T04:39:55Z</dcterms:modified>
</cp:coreProperties>
</file>